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19"/>
  </p:notesMasterIdLst>
  <p:handoutMasterIdLst>
    <p:handoutMasterId r:id="rId20"/>
  </p:handoutMasterIdLst>
  <p:sldIdLst>
    <p:sldId id="258" r:id="rId5"/>
    <p:sldId id="284" r:id="rId6"/>
    <p:sldId id="261" r:id="rId7"/>
    <p:sldId id="286" r:id="rId8"/>
    <p:sldId id="262" r:id="rId9"/>
    <p:sldId id="264" r:id="rId10"/>
    <p:sldId id="263" r:id="rId11"/>
    <p:sldId id="267" r:id="rId12"/>
    <p:sldId id="266" r:id="rId13"/>
    <p:sldId id="268" r:id="rId14"/>
    <p:sldId id="272" r:id="rId15"/>
    <p:sldId id="291" r:id="rId16"/>
    <p:sldId id="269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FC95A-CDD5-48EF-BDB8-A9FF77E2372D}" v="9" dt="2026-03-15T19:36:24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333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779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662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502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5258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368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vvybikes.com/data-license-agree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487" y="1853267"/>
            <a:ext cx="4842074" cy="1590548"/>
          </a:xfrm>
        </p:spPr>
        <p:txBody>
          <a:bodyPr>
            <a:normAutofit fontScale="90000"/>
          </a:bodyPr>
          <a:lstStyle/>
          <a:p>
            <a:r>
              <a:rPr lang="en-US" dirty="0"/>
              <a:t>Rider Conversion </a:t>
            </a:r>
            <a:r>
              <a:rPr lang="en-US" sz="7300" dirty="0"/>
              <a:t>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j-lt"/>
              </a:rPr>
              <a:t>By Arkajyoti Basu Ray</a:t>
            </a:r>
          </a:p>
          <a:p>
            <a:r>
              <a:rPr lang="en-US" dirty="0">
                <a:latin typeface="+mj-lt"/>
              </a:rPr>
              <a:t>March 15, 2026</a:t>
            </a:r>
          </a:p>
          <a:p>
            <a:r>
              <a:rPr lang="en-US" dirty="0">
                <a:latin typeface="+mj-lt"/>
              </a:rPr>
              <a:t>Marketing analytics team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F1FB99-06F8-C370-3743-EEC876D9BC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>
            <a:fillRect/>
          </a:stretch>
        </p:blipFill>
        <p:spPr>
          <a:xfrm>
            <a:off x="1818968" y="1853267"/>
            <a:ext cx="2900516" cy="31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042" y="1136857"/>
            <a:ext cx="5413558" cy="4300382"/>
          </a:xfrm>
        </p:spPr>
        <p:txBody>
          <a:bodyPr numCol="2">
            <a:normAutofit/>
          </a:bodyPr>
          <a:lstStyle/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ABOUT COMPANY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OVERVIEW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DATA SOURCES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PROCESS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FINDINGS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RECOMMENDATIONS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CLOSING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53340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D0A5-C881-F84F-C9F3-944CA4A44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510" y="1732343"/>
            <a:ext cx="5879690" cy="23995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2016, Cyclistic launched a successful bike-share offering. Since then, the program has grown to a fleet of 5,824 bicycles that are geo-tracked and locked into a network of 692 stations across Chicago.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670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00BB-BA1B-5976-9491-52C46868D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2108201"/>
            <a:ext cx="5261201" cy="3760891"/>
          </a:xfrm>
        </p:spPr>
        <p:txBody>
          <a:bodyPr/>
          <a:lstStyle/>
          <a:p>
            <a:r>
              <a:rPr lang="en-IN" dirty="0"/>
              <a:t>The primary goal is to identify the key behavioural differences between </a:t>
            </a:r>
            <a:r>
              <a:rPr lang="en-IN" b="1" dirty="0"/>
              <a:t>casual riders </a:t>
            </a:r>
            <a:r>
              <a:rPr lang="en-IN" dirty="0"/>
              <a:t>and </a:t>
            </a:r>
            <a:r>
              <a:rPr lang="en-IN" b="1" dirty="0"/>
              <a:t>annual members</a:t>
            </a:r>
            <a:r>
              <a:rPr lang="en-IN" dirty="0"/>
              <a:t> using their current </a:t>
            </a:r>
            <a:r>
              <a:rPr lang="en-IN" b="1" dirty="0"/>
              <a:t>usage pattern </a:t>
            </a:r>
            <a:r>
              <a:rPr lang="en-IN" dirty="0"/>
              <a:t>to provide data-driven recommendations for a new marketing strategy aimed at converting casual riders into long-term subscribers.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b="1" dirty="0"/>
              <a:t>Why would the 34% of Casual riders buy a </a:t>
            </a:r>
            <a:r>
              <a:rPr lang="en-IN" b="1" i="1" dirty="0" err="1"/>
              <a:t>Cyclistic</a:t>
            </a:r>
            <a:r>
              <a:rPr lang="en-IN" b="1" dirty="0"/>
              <a:t> Annual Membership? 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9CE09-C834-A45D-DF90-72DD6688E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312" y="1715673"/>
            <a:ext cx="6272036" cy="340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Sources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The data sources contains </a:t>
            </a:r>
            <a:r>
              <a:rPr lang="en-US" b="1" dirty="0"/>
              <a:t>12 months </a:t>
            </a:r>
            <a:r>
              <a:rPr lang="en-US" dirty="0"/>
              <a:t>of historical trip data </a:t>
            </a:r>
            <a:r>
              <a:rPr lang="en-US" b="1" dirty="0"/>
              <a:t>FY 2025-26 </a:t>
            </a:r>
            <a:r>
              <a:rPr lang="en-US" dirty="0"/>
              <a:t>with-over</a:t>
            </a:r>
            <a:r>
              <a:rPr lang="en-US" b="1" dirty="0"/>
              <a:t> 3.6 Million+ </a:t>
            </a:r>
            <a:r>
              <a:rPr lang="en-US" dirty="0"/>
              <a:t>data entries . The data has been made available by Motivate International INC. under this </a:t>
            </a:r>
            <a:r>
              <a:rPr lang="en-US" dirty="0">
                <a:hlinkClick r:id="rId3"/>
              </a:rPr>
              <a:t>license</a:t>
            </a:r>
            <a:r>
              <a:rPr lang="en-US" dirty="0"/>
              <a:t>. </a:t>
            </a:r>
          </a:p>
          <a:p>
            <a:r>
              <a:rPr lang="en-US" dirty="0"/>
              <a:t>The data sources incur no bias and the data is credible, passing the </a:t>
            </a:r>
            <a:r>
              <a:rPr lang="en-US" b="1" dirty="0"/>
              <a:t>ROCCC test</a:t>
            </a:r>
            <a:r>
              <a:rPr lang="en-US" dirty="0"/>
              <a:t>.</a:t>
            </a:r>
            <a:endParaRPr lang="en-IN" dirty="0"/>
          </a:p>
          <a:p>
            <a:endParaRPr lang="en-US" dirty="0">
              <a:latin typeface="+mj-lt"/>
            </a:endParaRPr>
          </a:p>
        </p:txBody>
      </p:sp>
      <p:pic>
        <p:nvPicPr>
          <p:cNvPr id="1026" name="Picture 2" descr="Data Visualization definition | Uxcel">
            <a:extLst>
              <a:ext uri="{FF2B5EF4-FFF2-40B4-BE49-F238E27FC236}">
                <a16:creationId xmlns:a16="http://schemas.microsoft.com/office/drawing/2014/main" id="{E15B915C-185D-21A4-6421-AC460E711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7360"/>
            <a:ext cx="5061271" cy="322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67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DB04AA-2B2C-4162-AD6D-1FF80268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216" y="348938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CBAAA8-DE36-46A7-8728-72C3486F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186" y="2278881"/>
            <a:ext cx="7270101" cy="3760891"/>
          </a:xfrm>
        </p:spPr>
        <p:txBody>
          <a:bodyPr vert="horz" lIns="0" tIns="45720" rIns="0" bIns="45720" rtlCol="0">
            <a:normAutofit/>
          </a:bodyPr>
          <a:lstStyle/>
          <a:p>
            <a:pPr marL="87313" indent="0">
              <a:buFont typeface="Calibri" panose="020F0502020204030204" pitchFamily="34" charset="0"/>
              <a:buNone/>
            </a:pPr>
            <a:r>
              <a:rPr lang="en-US" dirty="0">
                <a:latin typeface="+mj-lt"/>
              </a:rPr>
              <a:t>Data Cleaning: The initial data cleaning phase affirmed the presence of </a:t>
            </a:r>
            <a:r>
              <a:rPr lang="en-US" b="1" dirty="0">
                <a:latin typeface="+mj-lt"/>
              </a:rPr>
              <a:t>no duplicate rides</a:t>
            </a:r>
            <a:r>
              <a:rPr lang="en-US" dirty="0">
                <a:latin typeface="+mj-lt"/>
              </a:rPr>
              <a:t>. The data-time formats over the </a:t>
            </a:r>
            <a:r>
              <a:rPr lang="en-US" b="1" dirty="0">
                <a:latin typeface="+mj-lt"/>
              </a:rPr>
              <a:t>12 months data </a:t>
            </a:r>
            <a:r>
              <a:rPr lang="en-US" dirty="0">
                <a:latin typeface="+mj-lt"/>
              </a:rPr>
              <a:t>were formatted to a single format.</a:t>
            </a:r>
          </a:p>
          <a:p>
            <a:pPr marL="87313" indent="0">
              <a:buFont typeface="Calibri" panose="020F0502020204030204" pitchFamily="34" charset="0"/>
              <a:buNone/>
            </a:pPr>
            <a:r>
              <a:rPr lang="en-US" dirty="0">
                <a:latin typeface="+mj-lt"/>
              </a:rPr>
              <a:t>Although the data consisted of around </a:t>
            </a:r>
            <a:r>
              <a:rPr lang="en-US" b="1" dirty="0">
                <a:latin typeface="+mj-lt"/>
              </a:rPr>
              <a:t>1,154,696 null entries</a:t>
            </a:r>
            <a:r>
              <a:rPr lang="en-US" dirty="0">
                <a:latin typeface="+mj-lt"/>
              </a:rPr>
              <a:t>, these rows were excluded from final analysis to ensure accuracy for location-based insights. However, initial checks confirmed there were no bias in the final data. </a:t>
            </a:r>
          </a:p>
        </p:txBody>
      </p:sp>
      <p:pic>
        <p:nvPicPr>
          <p:cNvPr id="2" name="Picture 2" descr="What is Big Data Analytics and Why it is so Important? | by Harshali Patel  | Medium">
            <a:extLst>
              <a:ext uri="{FF2B5EF4-FFF2-40B4-BE49-F238E27FC236}">
                <a16:creationId xmlns:a16="http://schemas.microsoft.com/office/drawing/2014/main" id="{237788B5-5DB4-6D24-699F-F9149F336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61" y="2387646"/>
            <a:ext cx="2814229" cy="281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5" y="1544517"/>
            <a:ext cx="3084844" cy="3311766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Feature Engineering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EDA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B1B05-F8D6-46D5-1CE8-2594B7ADE416}"/>
              </a:ext>
            </a:extLst>
          </p:cNvPr>
          <p:cNvSpPr txBox="1"/>
          <p:nvPr/>
        </p:nvSpPr>
        <p:spPr>
          <a:xfrm>
            <a:off x="465825" y="2989006"/>
            <a:ext cx="101530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Feature Engineering: Data columns such as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ride length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and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days of the week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rides taken were created from the 12 months data for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weekly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,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monthly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and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hour-wise analysis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based on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weekdays and weekends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.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Exploratory Data Analysis: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Graphs and data tables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created to analysis the behavioral differences between casual and annual member riders.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Findings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A98E2-1740-47B1-8C02-1EA197716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099" y="1978695"/>
            <a:ext cx="6880507" cy="3141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CD07B-3F24-7AFA-DA72-2528A4A2FD6C}"/>
              </a:ext>
            </a:extLst>
          </p:cNvPr>
          <p:cNvSpPr txBox="1"/>
          <p:nvPr/>
        </p:nvSpPr>
        <p:spPr>
          <a:xfrm>
            <a:off x="914398" y="2718671"/>
            <a:ext cx="282186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Casual riders prefer Leisure trips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over Member riders who generally are commuter riders.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605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3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3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Connector 34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5F1EC87-D18F-44CB-0039-15B0D3E95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71" y="3090817"/>
            <a:ext cx="6980904" cy="37396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D344FC-E27A-8B2B-D8A2-802823E34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71" y="16875"/>
            <a:ext cx="6972044" cy="3183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32FA1D-6D47-BE57-8418-65C54F5C09DF}"/>
              </a:ext>
            </a:extLst>
          </p:cNvPr>
          <p:cNvSpPr txBox="1"/>
          <p:nvPr/>
        </p:nvSpPr>
        <p:spPr>
          <a:xfrm>
            <a:off x="590927" y="3282375"/>
            <a:ext cx="34402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Casual riders prefer Weekends for </a:t>
            </a:r>
            <a:r>
              <a:rPr lang="en-US" dirty="0">
                <a:latin typeface="+mj-lt"/>
              </a:rPr>
              <a:t>over Member users who remain consistent. </a:t>
            </a:r>
            <a:endParaRPr lang="en-IN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EC72E-23E2-45A6-6459-4669EFFCA512}"/>
              </a:ext>
            </a:extLst>
          </p:cNvPr>
          <p:cNvSpPr txBox="1"/>
          <p:nvPr/>
        </p:nvSpPr>
        <p:spPr>
          <a:xfrm>
            <a:off x="590927" y="845948"/>
            <a:ext cx="37685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Casual rides peak consistently during 10 AM – 5 PM </a:t>
            </a:r>
            <a:r>
              <a:rPr lang="en-US" dirty="0">
                <a:latin typeface="+mj-lt"/>
              </a:rPr>
              <a:t>unlike member riders who generally ride at 8 AM or 5 PM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194C2A-03C3-556D-96DD-774F86D952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61" y="4869320"/>
            <a:ext cx="2486372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2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B9ABFC-6927-5361-81E4-0554D278E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03" y="2323874"/>
            <a:ext cx="7558940" cy="4076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36E82F-90A2-7EDF-28DA-6D8A82E6C41B}"/>
              </a:ext>
            </a:extLst>
          </p:cNvPr>
          <p:cNvSpPr txBox="1"/>
          <p:nvPr/>
        </p:nvSpPr>
        <p:spPr>
          <a:xfrm>
            <a:off x="1396181" y="1050752"/>
            <a:ext cx="8691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Casual riders consist of tourist trips during the Summer season (May-August)</a:t>
            </a:r>
            <a:r>
              <a:rPr lang="en-US" dirty="0">
                <a:latin typeface="+mj-lt"/>
              </a:rPr>
              <a:t> unlike Member riders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420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942" y="1806467"/>
            <a:ext cx="3068833" cy="2093975"/>
          </a:xfrm>
        </p:spPr>
        <p:txBody>
          <a:bodyPr>
            <a:normAutofit fontScale="90000"/>
          </a:bodyPr>
          <a:lstStyle/>
          <a:p>
            <a:r>
              <a:rPr lang="en-US" dirty="0"/>
              <a:t>TOP 10 Casual Riding Stations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43EA4-4675-148C-CDB4-B7EE9F984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191" y="-1"/>
            <a:ext cx="7889809" cy="59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88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CDB4-6805-6203-EDF2-AD41FE0B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529" y="1327157"/>
            <a:ext cx="3263490" cy="1484869"/>
          </a:xfrm>
        </p:spPr>
        <p:txBody>
          <a:bodyPr>
            <a:normAutofit fontScale="90000"/>
          </a:bodyPr>
          <a:lstStyle/>
          <a:p>
            <a:r>
              <a:rPr lang="en-US" dirty="0"/>
              <a:t>WHY CASUAL RIDERS WILL BUY MEMBERSHIPS?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F9DDB-D889-2C2A-1D1A-0A5B223E5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4" y="1196258"/>
            <a:ext cx="5713841" cy="4868609"/>
          </a:xfrm>
        </p:spPr>
        <p:txBody>
          <a:bodyPr/>
          <a:lstStyle/>
          <a:p>
            <a:r>
              <a:rPr lang="en-US" dirty="0"/>
              <a:t>Casual riders prefer leisure rides therefore an Annual Pass might help them avoid price anxiety. They can keep biking longer without worrying about the bill.</a:t>
            </a:r>
          </a:p>
          <a:p>
            <a:r>
              <a:rPr lang="en-US" dirty="0"/>
              <a:t>Many casual riders are seasonal commuters so If Seasonal passes are introduced, they would find it cheaper than paying daily per-minute rides.</a:t>
            </a:r>
          </a:p>
          <a:p>
            <a:r>
              <a:rPr lang="en-US" dirty="0"/>
              <a:t>Casual rides peak show a 6% increase in Weekends over Weekdays so Weekend Warrior passes would definitely be beneficial to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92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CC78E1-629B-4981-BA25-E8F061C4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F92DD-727D-F99C-B4EE-DBABAA8EA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354007"/>
            <a:ext cx="10058400" cy="376089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Introducing a </a:t>
            </a:r>
            <a:r>
              <a:rPr lang="en-US" sz="2400" b="1" dirty="0">
                <a:latin typeface="+mj-lt"/>
              </a:rPr>
              <a:t>Seasonal Leisure </a:t>
            </a:r>
            <a:r>
              <a:rPr lang="en-US" sz="2400" dirty="0">
                <a:latin typeface="+mj-lt"/>
              </a:rPr>
              <a:t>passes capture the high-volume Casual riders during the </a:t>
            </a:r>
            <a:r>
              <a:rPr lang="en-US" sz="2400" b="1" dirty="0">
                <a:latin typeface="+mj-lt"/>
              </a:rPr>
              <a:t>Summer seasons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dirty="0">
                <a:latin typeface="+mj-lt"/>
              </a:rPr>
              <a:t>Offering first trial memberships to casual riders for </a:t>
            </a:r>
            <a:r>
              <a:rPr lang="en-US" sz="2400" b="1" dirty="0">
                <a:latin typeface="+mj-lt"/>
              </a:rPr>
              <a:t>Weekend trips </a:t>
            </a:r>
            <a:r>
              <a:rPr lang="en-US" sz="2400" dirty="0">
                <a:latin typeface="+mj-lt"/>
              </a:rPr>
              <a:t>during peak hours 10 AM to 5 PM.</a:t>
            </a:r>
          </a:p>
          <a:p>
            <a:r>
              <a:rPr lang="en-US" sz="2400" dirty="0">
                <a:latin typeface="+mj-lt"/>
              </a:rPr>
              <a:t>Deploy digital advertisements on the </a:t>
            </a:r>
            <a:r>
              <a:rPr lang="en-US" sz="2400" b="1" dirty="0">
                <a:latin typeface="+mj-lt"/>
              </a:rPr>
              <a:t>Top 10 Casual rider Stations</a:t>
            </a:r>
            <a:r>
              <a:rPr lang="en-US" sz="2400" dirty="0">
                <a:latin typeface="+mj-lt"/>
              </a:rPr>
              <a:t>, highlighting the cost-savings of an annual member over casual riding.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46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126</TotalTime>
  <Words>522</Words>
  <Application>Microsoft Office PowerPoint</Application>
  <PresentationFormat>Widescreen</PresentationFormat>
  <Paragraphs>63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RetrospectVTI</vt:lpstr>
      <vt:lpstr>Rider Conversion Analysis</vt:lpstr>
      <vt:lpstr>Agenda</vt:lpstr>
      <vt:lpstr>About Company</vt:lpstr>
      <vt:lpstr>OVERVIEW</vt:lpstr>
      <vt:lpstr>Data Sources</vt:lpstr>
      <vt:lpstr>Process</vt:lpstr>
      <vt:lpstr>PowerPoint Presentation</vt:lpstr>
      <vt:lpstr>Findings</vt:lpstr>
      <vt:lpstr>PowerPoint Presentation</vt:lpstr>
      <vt:lpstr>PowerPoint Presentation</vt:lpstr>
      <vt:lpstr>TOP 10 Casual Riding Stations</vt:lpstr>
      <vt:lpstr>WHY CASUAL RIDERS WILL BUY MEMBERSHIPS?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Arkajyoti Basu Ray</dc:creator>
  <cp:lastModifiedBy>Arkajyoti Basu Ray</cp:lastModifiedBy>
  <cp:revision>3</cp:revision>
  <dcterms:created xsi:type="dcterms:W3CDTF">2026-03-15T13:23:29Z</dcterms:created>
  <dcterms:modified xsi:type="dcterms:W3CDTF">2026-03-17T16:16:44Z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